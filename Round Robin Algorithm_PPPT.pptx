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5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82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8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5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1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1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3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76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4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2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95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90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64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42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51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05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D72B219-05DA-4F1B-B06C-03C3340EC7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4FEC75D-5925-47D0-941E-562C8E52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08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C0EC1-2016-8EE0-A944-9653F5D8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Round Robin </a:t>
            </a:r>
            <a:r>
              <a:rPr lang="en-US" b="1"/>
              <a:t>Algoritm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EF526-E985-98EC-0D04-327B33410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Structures (CS-216) Project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Fall 2024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Team: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Ahmad Rayan Qasim (243557) - DS Specialist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Attique Alvi (243521) - Core System Engineer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Instructor: Ma’am Aleena Imran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Air University Multan Campus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320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0D8D9E-5E60-CB43-1FC4-C3081C75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4CF08E-9849-DA40-EC12-A0BCB033F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36718" cy="3416300"/>
          </a:xfrm>
        </p:spPr>
        <p:txBody>
          <a:bodyPr>
            <a:normAutofit/>
          </a:bodyPr>
          <a:lstStyle/>
          <a:p>
            <a:r>
              <a:rPr lang="en-US" sz="2000" dirty="0"/>
              <a:t>Focus on </a:t>
            </a:r>
            <a:r>
              <a:rPr lang="en-US" sz="2000" b="1" dirty="0"/>
              <a:t>CPU scheduling</a:t>
            </a:r>
            <a:r>
              <a:rPr lang="en-US" sz="2000" dirty="0"/>
              <a:t> in OS and fairness of </a:t>
            </a:r>
            <a:r>
              <a:rPr lang="en-US" sz="2000" b="1" dirty="0"/>
              <a:t>Round Robin (RR)</a:t>
            </a:r>
            <a:r>
              <a:rPr lang="en-US" sz="2000" dirty="0"/>
              <a:t> algorithm.</a:t>
            </a:r>
          </a:p>
          <a:p>
            <a:r>
              <a:rPr lang="en-US" sz="2000" b="1" dirty="0"/>
              <a:t>Round Robin Algorithm key concept:</a:t>
            </a:r>
            <a:r>
              <a:rPr lang="en-US" sz="2000" dirty="0"/>
              <a:t> Each process gets a </a:t>
            </a:r>
            <a:r>
              <a:rPr lang="en-US" sz="2000" b="1" dirty="0"/>
              <a:t>fixed time slice (quantum)</a:t>
            </a:r>
            <a:r>
              <a:rPr lang="en-US" sz="2000" dirty="0"/>
              <a:t> before CPU switches.</a:t>
            </a:r>
          </a:p>
          <a:p>
            <a:r>
              <a:rPr lang="en-US" sz="2000" dirty="0"/>
              <a:t>Highlight use of </a:t>
            </a:r>
            <a:r>
              <a:rPr lang="en-US" sz="2000" b="1" dirty="0"/>
              <a:t>manual data structures</a:t>
            </a:r>
            <a:r>
              <a:rPr lang="en-US" sz="2000" dirty="0"/>
              <a:t> (linked lists, merge sort) to demonstrate DSA concepts.</a:t>
            </a:r>
          </a:p>
          <a:p>
            <a:r>
              <a:rPr lang="en-US" sz="2000" dirty="0"/>
              <a:t>Mention </a:t>
            </a:r>
            <a:r>
              <a:rPr lang="en-US" sz="2000" b="1" dirty="0"/>
              <a:t>learning experience</a:t>
            </a:r>
            <a:r>
              <a:rPr lang="en-US" sz="2000" dirty="0"/>
              <a:t>: debugging pointers, memory management, and building a mini-OS simulator.</a:t>
            </a:r>
          </a:p>
        </p:txBody>
      </p:sp>
    </p:spTree>
    <p:extLst>
      <p:ext uri="{BB962C8B-B14F-4D97-AF65-F5344CB8AC3E}">
        <p14:creationId xmlns:p14="http://schemas.microsoft.com/office/powerpoint/2010/main" val="3339197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28AA-5536-4614-1CE0-43730BE9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D892E-96BF-1142-44EF-2B5D1276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Simulate </a:t>
            </a:r>
            <a:r>
              <a:rPr lang="en-US" sz="2000" b="1" dirty="0"/>
              <a:t>fair CPU scheduling</a:t>
            </a:r>
            <a:r>
              <a:rPr lang="en-US" sz="2000" dirty="0"/>
              <a:t> for processes with different </a:t>
            </a:r>
            <a:r>
              <a:rPr lang="en-US" sz="2000" b="1" dirty="0"/>
              <a:t>arrival &amp; burst times</a:t>
            </a:r>
            <a:r>
              <a:rPr lang="en-US" sz="2000" dirty="0"/>
              <a:t>.</a:t>
            </a:r>
          </a:p>
          <a:p>
            <a:r>
              <a:rPr lang="en-US" sz="2000" dirty="0"/>
              <a:t>Handle </a:t>
            </a:r>
            <a:r>
              <a:rPr lang="en-US" sz="2000" b="1" dirty="0"/>
              <a:t>preemption, dynamic arrivals, unique PIDs</a:t>
            </a:r>
            <a:r>
              <a:rPr lang="en-US" sz="2000" dirty="0"/>
              <a:t>, and </a:t>
            </a:r>
            <a:r>
              <a:rPr lang="en-US" sz="2000" b="1" dirty="0"/>
              <a:t>accurate metrics</a:t>
            </a:r>
            <a:r>
              <a:rPr lang="en-US" sz="2000" dirty="0"/>
              <a:t> (Waiting Time, Turnaround Time).</a:t>
            </a:r>
          </a:p>
          <a:p>
            <a:r>
              <a:rPr lang="en-US" sz="2000" dirty="0"/>
              <a:t>Avoid </a:t>
            </a:r>
            <a:r>
              <a:rPr lang="en-US" sz="2000" b="1" dirty="0"/>
              <a:t>STL containers</a:t>
            </a:r>
            <a:r>
              <a:rPr lang="en-US" sz="2000" dirty="0"/>
              <a:t> – everything implemented manually.</a:t>
            </a:r>
          </a:p>
          <a:p>
            <a:r>
              <a:rPr lang="en-US" sz="2000" dirty="0"/>
              <a:t>Optimize for scalability (e.g., 50+ processes) with </a:t>
            </a:r>
            <a:r>
              <a:rPr lang="en-US" sz="2000" b="1" dirty="0"/>
              <a:t>efficient sorting and queue operations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604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B08E-BA29-0D32-1946-75CE8034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EC342-C135-95D9-7947-EFA0AAD51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Implement </a:t>
            </a:r>
            <a:r>
              <a:rPr lang="en-US" sz="2000" b="1" dirty="0"/>
              <a:t>Round Robin in C++</a:t>
            </a:r>
            <a:r>
              <a:rPr lang="en-US" sz="2000" dirty="0"/>
              <a:t> with a Gantt chart output.</a:t>
            </a:r>
          </a:p>
          <a:p>
            <a:r>
              <a:rPr lang="en-US" sz="2000" b="1" dirty="0"/>
              <a:t>Manual Ready Queue:</a:t>
            </a:r>
            <a:r>
              <a:rPr lang="en-US" sz="2000" dirty="0"/>
              <a:t> Linked list with O(1) enqueue/dequeue.</a:t>
            </a:r>
          </a:p>
          <a:p>
            <a:r>
              <a:rPr lang="en-US" sz="2000" dirty="0"/>
              <a:t>Calculate </a:t>
            </a:r>
            <a:r>
              <a:rPr lang="en-US" sz="2000" b="1" dirty="0"/>
              <a:t>average waiting time, turnaround time, CPU utilization</a:t>
            </a:r>
            <a:r>
              <a:rPr lang="en-US" sz="2000" dirty="0"/>
              <a:t>.</a:t>
            </a:r>
          </a:p>
          <a:p>
            <a:r>
              <a:rPr lang="en-US" sz="2000" dirty="0"/>
              <a:t>Input validation for robustness.</a:t>
            </a:r>
          </a:p>
          <a:p>
            <a:r>
              <a:rPr lang="en-US" sz="2000" b="1" dirty="0"/>
              <a:t>Advanced Features:</a:t>
            </a:r>
            <a:r>
              <a:rPr lang="en-US" sz="2000" dirty="0"/>
              <a:t> Manual merge sort and memory-safe destructors.</a:t>
            </a:r>
          </a:p>
        </p:txBody>
      </p:sp>
    </p:spTree>
    <p:extLst>
      <p:ext uri="{BB962C8B-B14F-4D97-AF65-F5344CB8AC3E}">
        <p14:creationId xmlns:p14="http://schemas.microsoft.com/office/powerpoint/2010/main" val="3687608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3A0AD-B264-9710-9227-4A25ED36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27FB-8A04-D119-9D86-6D83549ED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Simulate </a:t>
            </a:r>
            <a:r>
              <a:rPr lang="en-US" sz="2000" b="1" dirty="0"/>
              <a:t>single-core CPU</a:t>
            </a:r>
            <a:r>
              <a:rPr lang="en-US" sz="2000" dirty="0"/>
              <a:t> using </a:t>
            </a:r>
            <a:r>
              <a:rPr lang="en-US" sz="2000" b="1" dirty="0"/>
              <a:t>console-based C++</a:t>
            </a:r>
            <a:r>
              <a:rPr lang="en-US" sz="2000" dirty="0"/>
              <a:t>.</a:t>
            </a:r>
          </a:p>
          <a:p>
            <a:r>
              <a:rPr lang="en-US" sz="2000" dirty="0"/>
              <a:t>Focus on </a:t>
            </a:r>
            <a:r>
              <a:rPr lang="en-US" sz="2000" b="1" dirty="0"/>
              <a:t>manual data structures</a:t>
            </a:r>
            <a:r>
              <a:rPr lang="en-US" sz="2000" dirty="0"/>
              <a:t>: arrays, pointers, linked lists.</a:t>
            </a:r>
          </a:p>
          <a:p>
            <a:r>
              <a:rPr lang="en-US" sz="2000" dirty="0"/>
              <a:t>Exclude multi-threading and I/O bursts.</a:t>
            </a:r>
          </a:p>
          <a:p>
            <a:r>
              <a:rPr lang="en-US" sz="2000" dirty="0"/>
              <a:t>Test scalability with large </a:t>
            </a:r>
            <a:r>
              <a:rPr lang="en-US" sz="2000" b="1" dirty="0"/>
              <a:t>N</a:t>
            </a:r>
            <a:r>
              <a:rPr lang="en-US" sz="2000" dirty="0"/>
              <a:t> processes.</a:t>
            </a:r>
          </a:p>
        </p:txBody>
      </p:sp>
    </p:spTree>
    <p:extLst>
      <p:ext uri="{BB962C8B-B14F-4D97-AF65-F5344CB8AC3E}">
        <p14:creationId xmlns:p14="http://schemas.microsoft.com/office/powerpoint/2010/main" val="1757195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09AEF-D7EF-B14C-803B-1189D3E92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DC6B-C2FE-76D9-2643-C7C3EC989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930" y="2365756"/>
            <a:ext cx="10357342" cy="3943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Ahmad Rayyan Qasim</a:t>
            </a:r>
            <a:endParaRPr lang="en-US" b="1" dirty="0"/>
          </a:p>
          <a:p>
            <a:r>
              <a:rPr lang="en-US" dirty="0"/>
              <a:t>Implemented </a:t>
            </a:r>
            <a:r>
              <a:rPr lang="en-US" b="1" dirty="0"/>
              <a:t>Scheduler Queue</a:t>
            </a:r>
            <a:r>
              <a:rPr lang="en-US" dirty="0"/>
              <a:t> with O(1) operations.</a:t>
            </a:r>
          </a:p>
          <a:p>
            <a:r>
              <a:rPr lang="en-US" dirty="0"/>
              <a:t>Wrote </a:t>
            </a:r>
            <a:r>
              <a:rPr lang="en-US" b="1" dirty="0"/>
              <a:t>manual merge sort</a:t>
            </a:r>
            <a:r>
              <a:rPr lang="en-US" dirty="0"/>
              <a:t> for arrival-time sorting.</a:t>
            </a:r>
          </a:p>
          <a:p>
            <a:r>
              <a:rPr lang="en-US" dirty="0"/>
              <a:t>Ensured accurate preemption during slices.</a:t>
            </a:r>
          </a:p>
          <a:p>
            <a:pPr marL="0" indent="0">
              <a:buNone/>
            </a:pPr>
            <a:r>
              <a:rPr lang="en-US" sz="2400" b="1" dirty="0"/>
              <a:t>Muhammad Attique Alvi</a:t>
            </a:r>
          </a:p>
          <a:p>
            <a:r>
              <a:rPr lang="en-US" dirty="0"/>
              <a:t>Designed </a:t>
            </a:r>
            <a:r>
              <a:rPr lang="en-US" b="1" dirty="0"/>
              <a:t>Process class</a:t>
            </a:r>
            <a:r>
              <a:rPr lang="en-US" dirty="0"/>
              <a:t> and input validation</a:t>
            </a:r>
            <a:r>
              <a:rPr lang="en-US" sz="2400" dirty="0"/>
              <a:t>.</a:t>
            </a:r>
          </a:p>
          <a:p>
            <a:r>
              <a:rPr lang="en-US" dirty="0"/>
              <a:t>Formatted output with neat tables.</a:t>
            </a:r>
          </a:p>
          <a:p>
            <a:pPr marL="0" indent="0">
              <a:buNone/>
            </a:pPr>
            <a:r>
              <a:rPr lang="en-US" sz="2400" b="1" dirty="0"/>
              <a:t>Combined Work:</a:t>
            </a:r>
            <a:r>
              <a:rPr lang="en-US" sz="2400" dirty="0"/>
              <a:t> </a:t>
            </a:r>
          </a:p>
          <a:p>
            <a:r>
              <a:rPr lang="en-US" dirty="0"/>
              <a:t>Debugged simulation loop together for accuracy.</a:t>
            </a:r>
          </a:p>
        </p:txBody>
      </p:sp>
    </p:spTree>
    <p:extLst>
      <p:ext uri="{BB962C8B-B14F-4D97-AF65-F5344CB8AC3E}">
        <p14:creationId xmlns:p14="http://schemas.microsoft.com/office/powerpoint/2010/main" val="3128922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3857-A0A6-65D0-A9AB-DA0C30053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Code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55F5-D742-AF21-CDF7-7DDF60AD4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Manual Queue:</a:t>
            </a:r>
            <a:r>
              <a:rPr lang="en-US" sz="2000" dirty="0"/>
              <a:t> Linked list with head/tail for O(1) enqueue/dequeue.</a:t>
            </a:r>
          </a:p>
          <a:p>
            <a:r>
              <a:rPr lang="en-US" sz="2000" b="1" dirty="0"/>
              <a:t>Process Class:</a:t>
            </a:r>
            <a:r>
              <a:rPr lang="en-US" sz="2000" dirty="0"/>
              <a:t> Tracks PID, arrival, burst, remaining time, metrics.</a:t>
            </a:r>
          </a:p>
          <a:p>
            <a:r>
              <a:rPr lang="en-US" sz="2000" b="1" dirty="0"/>
              <a:t>Round Robin Simulator:</a:t>
            </a:r>
            <a:r>
              <a:rPr lang="en-US" sz="2000" dirty="0"/>
              <a:t> Handles sorting, CPU timeline, metrics calculation.</a:t>
            </a:r>
          </a:p>
          <a:p>
            <a:r>
              <a:rPr lang="en-US" sz="2000" b="1" dirty="0"/>
              <a:t>Merge Sort:</a:t>
            </a:r>
            <a:r>
              <a:rPr lang="en-US" sz="2000" dirty="0"/>
              <a:t> Efficient O(N log N) sorting for arrival times.</a:t>
            </a:r>
          </a:p>
        </p:txBody>
      </p:sp>
    </p:spTree>
    <p:extLst>
      <p:ext uri="{BB962C8B-B14F-4D97-AF65-F5344CB8AC3E}">
        <p14:creationId xmlns:p14="http://schemas.microsoft.com/office/powerpoint/2010/main" val="182993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AB9C-B62B-9E22-143C-9F07CB32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8BA90-B788-95EE-19AE-F70A2C4BE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b="1" dirty="0"/>
              <a:t>Merge Sort:</a:t>
            </a:r>
            <a:r>
              <a:rPr lang="pt-BR" sz="2000" dirty="0"/>
              <a:t> O(N log N) time, O(N) space</a:t>
            </a:r>
          </a:p>
          <a:p>
            <a:r>
              <a:rPr lang="pt-BR" sz="2000" b="1" dirty="0"/>
              <a:t>Queue Operations:</a:t>
            </a:r>
            <a:r>
              <a:rPr lang="pt-BR" sz="2000" dirty="0"/>
              <a:t> O(1) enqueue/dequeue</a:t>
            </a:r>
          </a:p>
          <a:p>
            <a:r>
              <a:rPr lang="en-US" sz="2000" b="1" dirty="0"/>
              <a:t>Simulation Loop:</a:t>
            </a:r>
            <a:r>
              <a:rPr lang="en-US" sz="2000" dirty="0"/>
              <a:t> O(T/Q * N), efficient with head/tail pointers</a:t>
            </a:r>
          </a:p>
          <a:p>
            <a:r>
              <a:rPr lang="pt-BR" sz="2000" b="1" dirty="0"/>
              <a:t>Input Validation &amp; Metrics:</a:t>
            </a:r>
            <a:r>
              <a:rPr lang="pt-BR" sz="2000" dirty="0"/>
              <a:t> O(N)</a:t>
            </a:r>
          </a:p>
          <a:p>
            <a:r>
              <a:rPr lang="en-US" sz="2000" dirty="0"/>
              <a:t>Optimized for scalability, pointer safety, and memory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31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EA95-D92B-6FF8-4669-B20617A2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08CA6-62E2-5BC4-9BBE-179D5F22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Manual implementation</a:t>
            </a:r>
            <a:r>
              <a:rPr lang="en-US" sz="2000" dirty="0"/>
              <a:t> strengthened DSA understanding.</a:t>
            </a:r>
          </a:p>
          <a:p>
            <a:r>
              <a:rPr lang="en-US" sz="2000" dirty="0"/>
              <a:t>Round Robin simulation demonstrates </a:t>
            </a:r>
            <a:r>
              <a:rPr lang="en-US" sz="2000" b="1" dirty="0"/>
              <a:t>fair CPU scheduling</a:t>
            </a:r>
            <a:r>
              <a:rPr lang="en-US" sz="2000" dirty="0"/>
              <a:t>.</a:t>
            </a:r>
          </a:p>
          <a:p>
            <a:r>
              <a:rPr lang="en-US" sz="2000" dirty="0"/>
              <a:t>Added </a:t>
            </a:r>
            <a:r>
              <a:rPr lang="en-US" sz="2000" b="1" dirty="0"/>
              <a:t>robustness</a:t>
            </a:r>
            <a:r>
              <a:rPr lang="en-US" sz="2000" dirty="0"/>
              <a:t> with input validation and memory-safe operations.</a:t>
            </a:r>
          </a:p>
          <a:p>
            <a:r>
              <a:rPr lang="en-US" sz="2000" dirty="0"/>
              <a:t>Learned practical </a:t>
            </a:r>
            <a:r>
              <a:rPr lang="en-US" sz="2000" b="1" dirty="0"/>
              <a:t>pointer debugging, preemption handling, and metrics calculations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474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A785-0FF8-1787-94AD-4CB9941E3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F196539-7DF7-C122-05BF-80A854CDE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31166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23</TotalTime>
  <Words>481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Round Robin Algoritm</vt:lpstr>
      <vt:lpstr>Introduction</vt:lpstr>
      <vt:lpstr>Problem Statement</vt:lpstr>
      <vt:lpstr>Objectives</vt:lpstr>
      <vt:lpstr>Scope</vt:lpstr>
      <vt:lpstr>Contribution</vt:lpstr>
      <vt:lpstr>Source Code Highlights</vt:lpstr>
      <vt:lpstr>Complexity Analysis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Attique Alvi</dc:creator>
  <cp:lastModifiedBy>Attique Alvi</cp:lastModifiedBy>
  <cp:revision>3</cp:revision>
  <dcterms:created xsi:type="dcterms:W3CDTF">2025-12-28T19:20:17Z</dcterms:created>
  <dcterms:modified xsi:type="dcterms:W3CDTF">2026-01-05T16:49:01Z</dcterms:modified>
</cp:coreProperties>
</file>